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7" r:id="rId12"/>
    <p:sldId id="267" r:id="rId13"/>
    <p:sldId id="268" r:id="rId14"/>
    <p:sldId id="265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27632"/>
            <a:ext cx="10287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56AE"/>
                </a:solidFill>
                <a:latin typeface="Arial"/>
              </a:defRPr>
            </a:pPr>
            <a:r>
              <a:t>DAE PROJECT: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21992"/>
            <a:ext cx="10378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5B14"/>
                </a:solidFill>
                <a:latin typeface="Arial"/>
              </a:defRPr>
            </a:pPr>
            <a:r>
              <a:t>WEB SCRAPPING AND PRODUCT PRICE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18211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D2D2D"/>
                </a:solidFill>
                <a:latin typeface="Arial"/>
              </a:defRPr>
            </a:pPr>
            <a:r>
              <a:t>BATCH-4: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102870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56AE"/>
                </a:solidFill>
                <a:latin typeface="Arial"/>
              </a:defRPr>
            </a:pPr>
            <a:r>
              <a:t>TEAM MEMBERS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023360"/>
            <a:ext cx="8503920" cy="15727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84831" y="4224528"/>
            <a:ext cx="80010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25B11CS195 : CHOWDARY YASHWANTH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25B11CS793 : PUNNAM SURYA SAI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25B11CS109 : B.MEGHANA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25B11CS639 : N.RAMALAKSHMI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1243584"/>
            <a:ext cx="10863072" cy="4956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627632"/>
            <a:ext cx="10287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56AE"/>
                </a:solidFill>
                <a:latin typeface="Arial"/>
              </a:defRPr>
            </a:pPr>
            <a:r>
              <a:t>DAE PROJECT: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10378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5B14"/>
                </a:solidFill>
                <a:latin typeface="Arial"/>
              </a:defRPr>
            </a:pPr>
            <a:r>
              <a:t>WEB SCRAPPING AND PRODUCT PRICE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8211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D2D2D"/>
                </a:solidFill>
                <a:latin typeface="Arial"/>
              </a:defRPr>
            </a:pPr>
            <a:r>
              <a:t>BATCH-4: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4224528"/>
            <a:ext cx="80010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25B11CS195 : CHOWDARY YASHWANTH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25B11CS793 : PUNNAM SURYA SAI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25B11CS109 : B.MEGHANA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25B11CS639 : N.RAMALAKSHMI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3886200"/>
            <a:ext cx="8275320" cy="16276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40280" y="4023360"/>
            <a:ext cx="7726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56AE"/>
                </a:solidFill>
                <a:latin typeface="Arial"/>
              </a:defRPr>
            </a:pPr>
            <a:r>
              <a:t>TEAM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370832"/>
            <a:ext cx="196596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spcAft>
                <a:spcPts val="600"/>
              </a:spcAft>
              <a:defRPr sz="1300" b="1">
                <a:solidFill>
                  <a:srgbClr val="2D2D2D"/>
                </a:solidFill>
                <a:latin typeface="Arial"/>
              </a:defRPr>
            </a:pPr>
            <a:r>
              <a:t>25B11CS195</a:t>
            </a:r>
          </a:p>
          <a:p>
            <a:pPr algn="r">
              <a:spcAft>
                <a:spcPts val="600"/>
              </a:spcAft>
              <a:defRPr sz="1300" b="1">
                <a:solidFill>
                  <a:srgbClr val="2D2D2D"/>
                </a:solidFill>
                <a:latin typeface="Arial"/>
              </a:defRPr>
            </a:pPr>
            <a:r>
              <a:t>25B11CS793</a:t>
            </a:r>
          </a:p>
          <a:p>
            <a:pPr algn="r">
              <a:spcAft>
                <a:spcPts val="600"/>
              </a:spcAft>
              <a:defRPr sz="1300" b="1">
                <a:solidFill>
                  <a:srgbClr val="2D2D2D"/>
                </a:solidFill>
                <a:latin typeface="Arial"/>
              </a:defRPr>
            </a:pPr>
            <a:r>
              <a:t>25B11CS109</a:t>
            </a:r>
          </a:p>
          <a:p>
            <a:pPr algn="r">
              <a:spcAft>
                <a:spcPts val="600"/>
              </a:spcAft>
              <a:defRPr sz="1300" b="1">
                <a:solidFill>
                  <a:srgbClr val="2D2D2D"/>
                </a:solidFill>
                <a:latin typeface="Arial"/>
              </a:defRPr>
            </a:pPr>
            <a:r>
              <a:t>25B11CS639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70832"/>
            <a:ext cx="544068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2D2D2D"/>
                </a:solidFill>
                <a:latin typeface="Arial"/>
              </a:defRPr>
            </a:pPr>
            <a:r>
              <a:t>:  CHOWDARY YASHWANTH</a:t>
            </a:r>
          </a:p>
          <a:p>
            <a:pPr algn="l">
              <a:spcAft>
                <a:spcPts val="600"/>
              </a:spcAft>
              <a:defRPr sz="1300">
                <a:solidFill>
                  <a:srgbClr val="2D2D2D"/>
                </a:solidFill>
                <a:latin typeface="Arial"/>
              </a:defRPr>
            </a:pPr>
            <a:r>
              <a:t>:  PUNNAM SURYA SAI</a:t>
            </a:r>
          </a:p>
          <a:p>
            <a:pPr algn="l">
              <a:spcAft>
                <a:spcPts val="600"/>
              </a:spcAft>
              <a:defRPr sz="1300">
                <a:solidFill>
                  <a:srgbClr val="2D2D2D"/>
                </a:solidFill>
                <a:latin typeface="Arial"/>
              </a:defRPr>
            </a:pPr>
            <a:r>
              <a:t>:  B. MEGHANA</a:t>
            </a:r>
          </a:p>
          <a:p>
            <a:pPr algn="l">
              <a:spcAft>
                <a:spcPts val="600"/>
              </a:spcAft>
              <a:defRPr sz="1300">
                <a:solidFill>
                  <a:srgbClr val="2D2D2D"/>
                </a:solidFill>
                <a:latin typeface="Arial"/>
              </a:defRPr>
            </a:pPr>
            <a:r>
              <a:t>:  N. RAMALAKSHMI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0103" y="1188720"/>
            <a:ext cx="11051065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148840"/>
            <a:ext cx="9829800" cy="324612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Web scraping automatically collects useful information from web pages and converts it into structured data.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Our system collects product name, price, discount, rating, reviews, website and product URL.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The collected data is cleaned, analyzed and visualized to generate useful pricing insights.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Core idea: convert web data into actionable information for better price comparison.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1277" y="1188720"/>
            <a:ext cx="11119891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148840"/>
            <a:ext cx="9829800" cy="324612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Products are available on multiple e-commerce platforms with different prices, discounts and ratings.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Manually checking several websites is time-consuming and difficult to repeat for many products.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Users may miss a lower price or a better deal available on another platform.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There is a need for an automated system that collects, compares and analyzes product prices.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1277" y="1188720"/>
            <a:ext cx="11119891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Project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148840"/>
            <a:ext cx="9829800" cy="324612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Automate product-data collection from selected web sources.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Clean and preprocess raw scraped data for reliable analysis.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Compare prices, discounts and ratings across platforms.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Calculate minimum, maximum, average and price differences.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Visualize price patterns and trends using charts.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Generate insights such as the lowest price and potential best deal.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1781" y="1188720"/>
            <a:ext cx="11149387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Why is the Project Useful?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029968"/>
            <a:ext cx="4736592" cy="530352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56AE"/>
                </a:solidFill>
                <a:latin typeface="Arial"/>
              </a:defRPr>
            </a:pPr>
            <a:r>
              <a:t>Why is the Project Useful?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Saves customers time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Finds lower-priced offers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Makes comparison easier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Supports purchase decisions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Can track prices over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44768" y="2029968"/>
            <a:ext cx="4736592" cy="530352"/>
          </a:xfrm>
          <a:prstGeom prst="round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5B14"/>
                </a:solidFill>
                <a:latin typeface="Arial"/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Competitor price monitoring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Market-price analysis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Discount analysis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Product benchmarking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Pricing strategy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1188720"/>
            <a:ext cx="11384280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Proposed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3017520"/>
            <a:ext cx="1562100" cy="777240"/>
          </a:xfrm>
          <a:prstGeom prst="roundRect">
            <a:avLst/>
          </a:prstGeom>
          <a:solidFill>
            <a:srgbClr val="E8F1FC"/>
          </a:solidFill>
          <a:ln w="19050">
            <a:solidFill>
              <a:srgbClr val="105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User / Product</a:t>
            </a:r>
            <a:br/>
            <a:r>
              <a:t>Keyword</a:t>
            </a:r>
          </a:p>
        </p:txBody>
      </p:sp>
      <p:sp>
        <p:nvSpPr>
          <p:cNvPr id="7" name="Chevron 6"/>
          <p:cNvSpPr/>
          <p:nvPr/>
        </p:nvSpPr>
        <p:spPr>
          <a:xfrm>
            <a:off x="2513076" y="3246120"/>
            <a:ext cx="109728" cy="320040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31947" y="3017520"/>
            <a:ext cx="1562100" cy="777240"/>
          </a:xfrm>
          <a:prstGeom prst="roundRect">
            <a:avLst/>
          </a:prstGeom>
          <a:solidFill>
            <a:srgbClr val="FFEFE6"/>
          </a:solidFill>
          <a:ln w="19050">
            <a:solidFill>
              <a:srgbClr val="F55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Web</a:t>
            </a:r>
            <a:br/>
            <a:r>
              <a:t>Scraping</a:t>
            </a:r>
          </a:p>
        </p:txBody>
      </p:sp>
      <p:sp>
        <p:nvSpPr>
          <p:cNvPr id="9" name="Chevron 8"/>
          <p:cNvSpPr/>
          <p:nvPr/>
        </p:nvSpPr>
        <p:spPr>
          <a:xfrm>
            <a:off x="4212335" y="3246120"/>
            <a:ext cx="109728" cy="320040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31208" y="3017520"/>
            <a:ext cx="1562100" cy="777240"/>
          </a:xfrm>
          <a:prstGeom prst="roundRect">
            <a:avLst/>
          </a:prstGeom>
          <a:solidFill>
            <a:srgbClr val="E8F1FC"/>
          </a:solidFill>
          <a:ln w="19050">
            <a:solidFill>
              <a:srgbClr val="105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Raw</a:t>
            </a:r>
            <a:br/>
            <a:r>
              <a:t>Dataset</a:t>
            </a:r>
          </a:p>
        </p:txBody>
      </p:sp>
      <p:sp>
        <p:nvSpPr>
          <p:cNvPr id="11" name="Chevron 10"/>
          <p:cNvSpPr/>
          <p:nvPr/>
        </p:nvSpPr>
        <p:spPr>
          <a:xfrm>
            <a:off x="5911595" y="3246120"/>
            <a:ext cx="109728" cy="320040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30467" y="3017520"/>
            <a:ext cx="1562100" cy="777240"/>
          </a:xfrm>
          <a:prstGeom prst="roundRect">
            <a:avLst/>
          </a:prstGeom>
          <a:solidFill>
            <a:srgbClr val="FFEFE6"/>
          </a:solidFill>
          <a:ln w="19050">
            <a:solidFill>
              <a:srgbClr val="F55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Cleaning &amp;</a:t>
            </a:r>
            <a:br/>
            <a:r>
              <a:t>Preprocessing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7610855" y="3246120"/>
            <a:ext cx="109728" cy="320040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29728" y="3017520"/>
            <a:ext cx="1562100" cy="777240"/>
          </a:xfrm>
          <a:prstGeom prst="roundRect">
            <a:avLst/>
          </a:prstGeom>
          <a:solidFill>
            <a:srgbClr val="E8F1FC"/>
          </a:solidFill>
          <a:ln w="19050">
            <a:solidFill>
              <a:srgbClr val="105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Price</a:t>
            </a:r>
            <a:br/>
            <a:r>
              <a:t>Analysis</a:t>
            </a:r>
          </a:p>
        </p:txBody>
      </p:sp>
      <p:sp>
        <p:nvSpPr>
          <p:cNvPr id="15" name="Chevron 14"/>
          <p:cNvSpPr/>
          <p:nvPr/>
        </p:nvSpPr>
        <p:spPr>
          <a:xfrm>
            <a:off x="9310116" y="3246120"/>
            <a:ext cx="109728" cy="320040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28988" y="3017520"/>
            <a:ext cx="1562100" cy="777240"/>
          </a:xfrm>
          <a:prstGeom prst="roundRect">
            <a:avLst/>
          </a:prstGeom>
          <a:solidFill>
            <a:srgbClr val="FFEFE6"/>
          </a:solidFill>
          <a:ln w="19050">
            <a:solidFill>
              <a:srgbClr val="F55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Visualization</a:t>
            </a:r>
            <a:br/>
            <a:r>
              <a:t>&amp; 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251960"/>
            <a:ext cx="9784080" cy="502920"/>
          </a:xfrm>
          <a:prstGeom prst="roundRect">
            <a:avLst/>
          </a:prstGeom>
          <a:solidFill>
            <a:srgbClr val="FFEFE6"/>
          </a:solidFill>
          <a:ln>
            <a:solidFill>
              <a:srgbClr val="F55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323"/>
                </a:solidFill>
                <a:latin typeface="Arial"/>
              </a:defRPr>
            </a:pPr>
            <a:r>
              <a:t>Raw web information is converted into structured data and then into analytical insights.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432" y="1188720"/>
            <a:ext cx="11094032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029968"/>
            <a:ext cx="4736592" cy="530352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56AE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Python — main programming language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Requests — fetch web pages where appropriate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BeautifulSoup — parse HTML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Selenium — handle dynamically rendered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44768" y="2029968"/>
            <a:ext cx="4736592" cy="530352"/>
          </a:xfrm>
          <a:prstGeom prst="round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5B14"/>
                </a:solidFill>
                <a:latin typeface="Arial"/>
              </a:defRPr>
            </a:pPr>
            <a:r>
              <a:t>Analytics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Pandas — data cleaning and analysis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NumPy — numerical operations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Matplotlib / Seaborn — visualization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CSV / SQLite / MySQL — storage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Streamlit — optional interactive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1613" y="1188720"/>
            <a:ext cx="11285859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Web Scraping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3017520"/>
            <a:ext cx="1562100" cy="777240"/>
          </a:xfrm>
          <a:prstGeom prst="roundRect">
            <a:avLst/>
          </a:prstGeom>
          <a:solidFill>
            <a:srgbClr val="E8F1FC"/>
          </a:solidFill>
          <a:ln w="19050">
            <a:solidFill>
              <a:srgbClr val="105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Select</a:t>
            </a:r>
            <a:br/>
            <a:r>
              <a:t>source</a:t>
            </a:r>
          </a:p>
        </p:txBody>
      </p:sp>
      <p:sp>
        <p:nvSpPr>
          <p:cNvPr id="7" name="Chevron 6"/>
          <p:cNvSpPr/>
          <p:nvPr/>
        </p:nvSpPr>
        <p:spPr>
          <a:xfrm>
            <a:off x="2513076" y="3246120"/>
            <a:ext cx="109728" cy="320040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31947" y="3017520"/>
            <a:ext cx="1562100" cy="777240"/>
          </a:xfrm>
          <a:prstGeom prst="roundRect">
            <a:avLst/>
          </a:prstGeom>
          <a:solidFill>
            <a:srgbClr val="FFEFE6"/>
          </a:solidFill>
          <a:ln w="19050">
            <a:solidFill>
              <a:srgbClr val="F55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Request /</a:t>
            </a:r>
            <a:br/>
            <a:r>
              <a:t>Browser</a:t>
            </a:r>
          </a:p>
        </p:txBody>
      </p:sp>
      <p:sp>
        <p:nvSpPr>
          <p:cNvPr id="9" name="Chevron 8"/>
          <p:cNvSpPr/>
          <p:nvPr/>
        </p:nvSpPr>
        <p:spPr>
          <a:xfrm>
            <a:off x="4212335" y="3246120"/>
            <a:ext cx="109728" cy="320040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31208" y="3017520"/>
            <a:ext cx="1562100" cy="777240"/>
          </a:xfrm>
          <a:prstGeom prst="roundRect">
            <a:avLst/>
          </a:prstGeom>
          <a:solidFill>
            <a:srgbClr val="E8F1FC"/>
          </a:solidFill>
          <a:ln w="19050">
            <a:solidFill>
              <a:srgbClr val="105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Read</a:t>
            </a:r>
            <a:br/>
            <a:r>
              <a:t>HTML</a:t>
            </a:r>
          </a:p>
        </p:txBody>
      </p:sp>
      <p:sp>
        <p:nvSpPr>
          <p:cNvPr id="11" name="Chevron 10"/>
          <p:cNvSpPr/>
          <p:nvPr/>
        </p:nvSpPr>
        <p:spPr>
          <a:xfrm>
            <a:off x="5911595" y="3246120"/>
            <a:ext cx="109728" cy="320040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30467" y="3017520"/>
            <a:ext cx="1562100" cy="777240"/>
          </a:xfrm>
          <a:prstGeom prst="roundRect">
            <a:avLst/>
          </a:prstGeom>
          <a:solidFill>
            <a:srgbClr val="FFEFE6"/>
          </a:solidFill>
          <a:ln w="19050">
            <a:solidFill>
              <a:srgbClr val="F55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Locate</a:t>
            </a:r>
            <a:br/>
            <a:r>
              <a:t>fields</a:t>
            </a:r>
          </a:p>
        </p:txBody>
      </p:sp>
      <p:sp>
        <p:nvSpPr>
          <p:cNvPr id="13" name="Chevron 12"/>
          <p:cNvSpPr/>
          <p:nvPr/>
        </p:nvSpPr>
        <p:spPr>
          <a:xfrm>
            <a:off x="7610855" y="3246120"/>
            <a:ext cx="109728" cy="320040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29728" y="3017520"/>
            <a:ext cx="1562100" cy="777240"/>
          </a:xfrm>
          <a:prstGeom prst="roundRect">
            <a:avLst/>
          </a:prstGeom>
          <a:solidFill>
            <a:srgbClr val="E8F1FC"/>
          </a:solidFill>
          <a:ln w="19050">
            <a:solidFill>
              <a:srgbClr val="105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Extract</a:t>
            </a:r>
            <a:br/>
            <a:r>
              <a:t>values</a:t>
            </a:r>
          </a:p>
        </p:txBody>
      </p:sp>
      <p:sp>
        <p:nvSpPr>
          <p:cNvPr id="15" name="Chevron 14"/>
          <p:cNvSpPr/>
          <p:nvPr/>
        </p:nvSpPr>
        <p:spPr>
          <a:xfrm>
            <a:off x="9310116" y="3246120"/>
            <a:ext cx="109728" cy="320040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28988" y="3017520"/>
            <a:ext cx="1562100" cy="777240"/>
          </a:xfrm>
          <a:prstGeom prst="roundRect">
            <a:avLst/>
          </a:prstGeom>
          <a:solidFill>
            <a:srgbClr val="FFEFE6"/>
          </a:solidFill>
          <a:ln w="19050">
            <a:solidFill>
              <a:srgbClr val="F55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  <a:latin typeface="Arial"/>
              </a:defRPr>
            </a:pPr>
            <a:r>
              <a:t>Store</a:t>
            </a:r>
            <a:br/>
            <a:r>
              <a:t>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251960"/>
            <a:ext cx="9784080" cy="502920"/>
          </a:xfrm>
          <a:prstGeom prst="roundRect">
            <a:avLst/>
          </a:prstGeom>
          <a:solidFill>
            <a:srgbClr val="FFEFE6"/>
          </a:solidFill>
          <a:ln>
            <a:solidFill>
              <a:srgbClr val="F55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323"/>
                </a:solidFill>
                <a:latin typeface="Arial"/>
              </a:defRPr>
            </a:pPr>
            <a:r>
              <a:t>Raw web information is converted into structured data and then into analytical insights.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1277" y="1188720"/>
            <a:ext cx="11202187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Data Cleaning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148840"/>
            <a:ext cx="9829800" cy="324612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Remove currency symbols and commas from prices.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Convert price and rating fields into numeric data types.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Handle missing values and remove duplicate records.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Standardize product names and website labels.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Validate values before analysis so calculations are reliable.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1110" y="1188719"/>
            <a:ext cx="11110058" cy="50940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Price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32688" y="2240280"/>
          <a:ext cx="10195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7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7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Website</a:t>
                      </a:r>
                    </a:p>
                  </a:txBody>
                  <a:tcPr marL="54864" marR="54864" marT="36576" marB="36576">
                    <a:solidFill>
                      <a:srgbClr val="1056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54864" marR="54864" marT="36576" marB="36576">
                    <a:solidFill>
                      <a:srgbClr val="1056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Store 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₹55,000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Store B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₹52,000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Store 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₹57,000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Calculated insight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Min ₹52,000 | Max ₹57,000 | Avg ₹54,667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51560" y="5349240"/>
            <a:ext cx="9784080" cy="502920"/>
          </a:xfrm>
          <a:prstGeom prst="roundRect">
            <a:avLst/>
          </a:prstGeom>
          <a:solidFill>
            <a:srgbClr val="FFEFE6"/>
          </a:solidFill>
          <a:ln>
            <a:solidFill>
              <a:srgbClr val="F55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323"/>
                </a:solidFill>
                <a:latin typeface="Arial"/>
              </a:defRPr>
            </a:pPr>
            <a:r>
              <a:t>Example: minimum = ₹52,000 | maximum = ₹57,000 | average ≈ ₹54,667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D3B246-AB6D-9EEE-F98D-8E36C41D7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69" y="520002"/>
            <a:ext cx="8847327" cy="63379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C3265A-5310-F91C-9D53-92FEA8A62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43477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60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103" y="1188720"/>
            <a:ext cx="11215657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135331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Product Comparison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2057400"/>
            <a:ext cx="470916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32688" y="2057400"/>
            <a:ext cx="4709160" cy="53035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61288" y="2167128"/>
            <a:ext cx="4251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056AE"/>
                </a:solidFill>
                <a:latin typeface="Arial"/>
              </a:defRPr>
            </a:pPr>
            <a:r>
              <a:t>Product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2807208"/>
            <a:ext cx="4142232" cy="2404872"/>
          </a:xfrm>
          <a:prstGeom prst="rect">
            <a:avLst/>
          </a:prstGeom>
          <a:noFill/>
        </p:spPr>
        <p:txBody>
          <a:bodyPr wrap="square" lIns="18288" tIns="9144" rIns="18288" anchor="t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Compare the same product across websites.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Identify the minimum and maximum price.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Calculate absolute and percentage price differences.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Compare ratings and review counts.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Rank available offers using selected criteria.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057400"/>
            <a:ext cx="470916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44768" y="2057400"/>
            <a:ext cx="4709160" cy="530352"/>
          </a:xfrm>
          <a:prstGeom prst="roundRect">
            <a:avLst/>
          </a:prstGeom>
          <a:solidFill>
            <a:srgbClr val="FF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2167128"/>
            <a:ext cx="4251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55B14"/>
                </a:solidFill>
                <a:latin typeface="Arial"/>
              </a:defRPr>
            </a:pPr>
            <a:r>
              <a:t>Example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807208"/>
            <a:ext cx="4142232" cy="2404872"/>
          </a:xfrm>
          <a:prstGeom prst="rect">
            <a:avLst/>
          </a:prstGeom>
          <a:noFill/>
        </p:spPr>
        <p:txBody>
          <a:bodyPr wrap="square" lIns="18288" tIns="9144" rIns="18288" anchor="t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Lowest price → Store B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Highest rating → Store B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Highest review count → Store B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Price difference → ₹5,000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1550">
                <a:solidFill>
                  <a:srgbClr val="2D2D2D"/>
                </a:solidFill>
                <a:latin typeface="Arial"/>
              </a:defRPr>
            </a:pPr>
            <a:r>
              <a:t>Potential best deal → Store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5321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5F5F5F"/>
                </a:solidFill>
                <a:latin typeface="Arial"/>
              </a:defRPr>
            </a:pPr>
            <a:r>
              <a:t>The comparison helps identify the most attractive offer using price and product-quality indicators.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1188720"/>
            <a:ext cx="11219688" cy="5129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Data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029968"/>
            <a:ext cx="4736592" cy="530352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56AE"/>
                </a:solidFill>
                <a:latin typeface="Arial"/>
              </a:defRPr>
            </a:pPr>
            <a:r>
              <a:t>Data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Bar chart — price by website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Line chart — price over time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Scatter plot — price vs rating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Box plot — price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44768" y="2029968"/>
            <a:ext cx="4736592" cy="530352"/>
          </a:xfrm>
          <a:prstGeom prst="round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5B14"/>
                </a:solidFill>
                <a:latin typeface="Arial"/>
              </a:defRPr>
            </a:pPr>
            <a:r>
              <a:t>What the Charts 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Which store is cheaper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How prices change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Relationship between price and rating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Spread and outliers in prices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9935" y="1188720"/>
            <a:ext cx="11187537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Example Product Dataset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32688" y="2240280"/>
          <a:ext cx="10195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Product</a:t>
                      </a:r>
                    </a:p>
                  </a:txBody>
                  <a:tcPr marL="54864" marR="54864" marT="36576" marB="36576">
                    <a:solidFill>
                      <a:srgbClr val="1056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Website</a:t>
                      </a:r>
                    </a:p>
                  </a:txBody>
                  <a:tcPr marL="54864" marR="54864" marT="36576" marB="36576">
                    <a:solidFill>
                      <a:srgbClr val="1056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54864" marR="54864" marT="36576" marB="36576">
                    <a:solidFill>
                      <a:srgbClr val="1056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</a:t>
                      </a:r>
                    </a:p>
                  </a:txBody>
                  <a:tcPr marL="54864" marR="54864" marT="36576" marB="36576">
                    <a:solidFill>
                      <a:srgbClr val="1056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Reviews</a:t>
                      </a:r>
                    </a:p>
                  </a:txBody>
                  <a:tcPr marL="54864" marR="54864" marT="36576" marB="36576">
                    <a:solidFill>
                      <a:srgbClr val="1056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Laptop 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Store 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₹55,000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4.2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1,250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Laptop A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Store B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₹52,000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4.5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2,100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Laptop 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Store 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₹57,000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4.3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900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Laptop B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Store A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₹61,500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4.1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780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51560" y="5349240"/>
            <a:ext cx="9784080" cy="502920"/>
          </a:xfrm>
          <a:prstGeom prst="roundRect">
            <a:avLst/>
          </a:prstGeom>
          <a:solidFill>
            <a:srgbClr val="FFEFE6"/>
          </a:solidFill>
          <a:ln>
            <a:solidFill>
              <a:srgbClr val="F55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323"/>
                </a:solidFill>
                <a:latin typeface="Arial"/>
              </a:defRPr>
            </a:pPr>
            <a:r>
              <a:t>Cleaned structured data becomes the input for statistical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9097" y="1188720"/>
            <a:ext cx="10992071" cy="5193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Price Trend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148840"/>
            <a:ext cx="9829800" cy="2231508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Store historical prices each time the scraper runs.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Example: ₹55,999 → ₹54,999 → ₹53,999 → ₹52,999 → ₹51,999.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A line chart can reveal price drops,</a:t>
            </a:r>
            <a:br>
              <a:rPr lang="en-US"/>
            </a:br>
            <a:r>
              <a:t> increases and fluctuations.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Historical data can support future price-alert</a:t>
            </a:r>
            <a:br>
              <a:rPr lang="en-US"/>
            </a:br>
            <a:r>
              <a:t> and prediction features.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AD03C3-E02E-CD72-D886-2940F7656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23" y="1188720"/>
            <a:ext cx="5692876" cy="49469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1188720"/>
            <a:ext cx="11219688" cy="5010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Possible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148840"/>
            <a:ext cx="9829800" cy="324612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Lowest available price for a product.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Highest, lowest and average market price.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Price difference between platforms.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Discount and rating comparison.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Historical price trend.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Analytical charts and summarized insights.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A data-driven basis for selecting a better deal.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1188720"/>
            <a:ext cx="11219688" cy="5193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Real-World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029968"/>
            <a:ext cx="4736592" cy="530352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56AE"/>
                </a:solidFill>
                <a:latin typeface="Arial"/>
              </a:defRPr>
            </a:pPr>
            <a:r>
              <a:t>Real-World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Online shopping price comparison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Competitor price monitoring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E-commerce analytics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Market research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Price monitoring and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44768" y="2029968"/>
            <a:ext cx="4736592" cy="530352"/>
          </a:xfrm>
          <a:prstGeom prst="round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5B14"/>
                </a:solidFill>
                <a:latin typeface="Arial"/>
              </a:defRPr>
            </a:pPr>
            <a:r>
              <a:t>Potential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Individual customers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Online retailers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E-commerce analysts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Marketing teams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Business decision-makers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1188720"/>
            <a:ext cx="11219688" cy="5193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Challenges &amp;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029968"/>
            <a:ext cx="4736592" cy="530352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56AE"/>
                </a:solidFill>
                <a:latin typeface="Arial"/>
              </a:defRPr>
            </a:pPr>
            <a:r>
              <a:t>Challenges &amp;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Different HTML structures across websites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Dynamic content loaded with JavaScript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Websites may change their page structure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Missing or inconsistent product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44768" y="2029968"/>
            <a:ext cx="4736592" cy="530352"/>
          </a:xfrm>
          <a:prstGeom prst="round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5B14"/>
                </a:solidFill>
                <a:latin typeface="Arial"/>
              </a:defRPr>
            </a:pPr>
            <a:r>
              <a:t>Responsible Scraping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Respect website terms and access rules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Avoid excessive request rates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Use only permitted/publicly accessible data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Handle failures and unavailable pages safely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6240" y="1188719"/>
            <a:ext cx="11317224" cy="5113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029968"/>
            <a:ext cx="4736592" cy="530352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56AE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AI-based product recommendation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Machine-learning price prediction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Automatic price-drop notifications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Sentiment analysis of customer reviews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Interactive Streamlit / Power BI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2029968"/>
            <a:ext cx="4736592" cy="3401568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44768" y="2029968"/>
            <a:ext cx="4736592" cy="530352"/>
          </a:xfrm>
          <a:prstGeom prst="round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39696"/>
            <a:ext cx="43708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5B14"/>
                </a:solidFill>
                <a:latin typeface="Arial"/>
              </a:defRPr>
            </a:pPr>
            <a:r>
              <a:t>Advanced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97480"/>
            <a:ext cx="4315968" cy="251460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Schedule regular scraping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Store historical datasets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Add more product categories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Product matching across websites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Personalized recommendation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81a72f-8888-4004-96ce-f9c65e503a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6240" y="1188720"/>
            <a:ext cx="11234928" cy="51235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3152" y="643737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35331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56AE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148840"/>
            <a:ext cx="9829800" cy="3246120"/>
          </a:xfrm>
          <a:prstGeom prst="rect">
            <a:avLst/>
          </a:prstGeom>
          <a:noFill/>
        </p:spPr>
        <p:txBody>
          <a:bodyPr wrap="square" lIns="45720" tIns="27432" r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The system automates the journey from web data collection to analytical insight.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Web scraping provides the raw product data; Pandas and analytics techniques turn it into usable information.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Price comparison identifies differences, trends and potential savings.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The project demonstrates key DAE concepts: data collection, cleaning, preprocessing, analysis and visualization.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Main pipeline: Collect → Clean → Store → Analyze → Compare → Visualize → Insight.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0" y="6382512"/>
            <a:ext cx="38404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84864" y="642823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480" y="6199632"/>
            <a:ext cx="11384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6384" y="1188719"/>
            <a:ext cx="10845176" cy="5010911"/>
          </a:xfrm>
          <a:prstGeom prst="rect">
            <a:avLst/>
          </a:prstGeom>
          <a:noFill/>
          <a:ln w="12700">
            <a:solidFill>
              <a:srgbClr val="A0A0A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144" y="2560320"/>
            <a:ext cx="99212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200" b="1">
                <a:solidFill>
                  <a:srgbClr val="1056AE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3520440"/>
            <a:ext cx="2788920" cy="41148"/>
          </a:xfrm>
          <a:prstGeom prst="rect">
            <a:avLst/>
          </a:prstGeom>
          <a:solidFill>
            <a:srgbClr val="F55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36C9C6-04AC-99D4-6466-665FB529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55"/>
            <a:ext cx="2162477" cy="895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1058</Words>
  <Application>Microsoft Office PowerPoint</Application>
  <PresentationFormat>Widescreen</PresentationFormat>
  <Paragraphs>248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Yashwanth Chowdary</dc:creator>
  <cp:keywords/>
  <dc:description>generated using python-pptx</dc:description>
  <cp:lastModifiedBy>Yashwanth Chowdary</cp:lastModifiedBy>
  <cp:revision>4</cp:revision>
  <dcterms:created xsi:type="dcterms:W3CDTF">2013-01-27T09:14:16Z</dcterms:created>
  <dcterms:modified xsi:type="dcterms:W3CDTF">2026-08-29T04:14:29Z</dcterms:modified>
  <cp:category/>
</cp:coreProperties>
</file>